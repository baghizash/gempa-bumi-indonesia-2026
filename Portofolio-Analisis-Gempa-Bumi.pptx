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83879" y="685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F1E9DA"/>
                </a:solidFill>
                <a:latin typeface="Noto Sans"/>
              </a:rPr>
              <a:t>GEMPA M≥4,5 TERCATAT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3879" y="109728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6800" b="1" i="0">
                <a:solidFill>
                  <a:srgbClr val="FFFFFF"/>
                </a:solidFill>
                <a:latin typeface="Noto Sans"/>
              </a:rPr>
              <a:t>9.595</a:t>
            </a:r>
          </a:p>
        </p:txBody>
      </p:sp>
      <p:sp>
        <p:nvSpPr>
          <p:cNvPr id="5" name="Rectangle 4"/>
          <p:cNvSpPr/>
          <p:nvPr/>
        </p:nvSpPr>
        <p:spPr>
          <a:xfrm>
            <a:off x="8202168" y="2606040"/>
            <a:ext cx="1005840" cy="73152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83879" y="297180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Noto Sans"/>
              </a:rPr>
              <a:t>M7,8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1E9DA"/>
                </a:solidFill>
                <a:latin typeface="Noto Sans"/>
              </a:rPr>
              <a:t>GEMPA TERBESAR: ENDE, NTT (2026-08-15), KEDALAMAN 10 KM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20" y="5943600"/>
            <a:ext cx="4373575" cy="914400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623620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50" b="1" i="0">
                <a:solidFill>
                  <a:srgbClr val="33231C"/>
                </a:solidFill>
                <a:latin typeface="Noto Sans"/>
              </a:rPr>
              <a:t>SNAPSHOT BMKG: 20 OKTOBER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777240"/>
            <a:ext cx="256032" cy="256032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4300" b="1" i="0">
                <a:solidFill>
                  <a:srgbClr val="33231C"/>
                </a:solidFill>
                <a:latin typeface="Noto Sans"/>
              </a:rPr>
              <a:t>GEMPA BUMI INDONESIA</a:t>
            </a:r>
          </a:p>
          <a:p>
            <a:pPr>
              <a:spcAft>
                <a:spcPts val="0"/>
              </a:spcAft>
            </a:pPr>
            <a:r>
              <a:rPr sz="4300" b="1" i="0">
                <a:solidFill>
                  <a:srgbClr val="A34A38"/>
                </a:solidFill>
                <a:latin typeface="Noto Sans"/>
              </a:rPr>
              <a:t>2015-2026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900" b="0" i="0">
                <a:solidFill>
                  <a:srgbClr val="33231C"/>
                </a:solidFill>
                <a:latin typeface="Noto Sans"/>
              </a:rPr>
              <a:t>Seberapa Sering, Seberapa Besar, dan Di Mana Gempa Mengguncang Indonesia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6583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 b="0" i="0">
                <a:solidFill>
                  <a:srgbClr val="33231C"/>
                </a:solidFill>
                <a:latin typeface="Noto Sans"/>
              </a:rPr>
              <a:t>Katalog USGS 9.595 gempa M≥4,5, 1 Januari 2015 sampai 20 Oktober 2026, plus snapshot real-time BMKG.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 b="0" i="0">
                <a:solidFill>
                  <a:srgbClr val="33231C"/>
                </a:solidFill>
                <a:latin typeface="Noto Sans"/>
              </a:rPr>
              <a:t>Plus: paket dashboard Power BI (star schema, DAX, panduan rakit).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650992"/>
            <a:ext cx="1463040" cy="64008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83387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33231C"/>
                </a:solidFill>
                <a:latin typeface="Noto Sans"/>
              </a:rPr>
              <a:t>BAGHIZ ASSHIDDIQIE ARASYA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100" b="1" i="0">
                <a:solidFill>
                  <a:srgbClr val="33231C"/>
                </a:solidFill>
                <a:latin typeface="Noto Sans"/>
              </a:rPr>
              <a:t>KENAPA GEMPA BUMI?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88720"/>
            <a:ext cx="1371600" cy="82296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33231C"/>
                </a:solidFill>
                <a:latin typeface="Noto Sans"/>
              </a:rPr>
              <a:t>Indonesia berdiri di pertemuan empat lempeng tektonik: Indo-Australia, Eurasia, Pasifik, dan Laut Filipina. Gempa bukan kejadian langka: ia terjadi hampir setiap hari.</a:t>
            </a:r>
          </a:p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33231C"/>
                </a:solidFill>
                <a:latin typeface="Noto Sans"/>
              </a:rPr>
              <a:t>Tapi 'sering' saja tidak cukup untuk kebijakan dan kesiapsiagaan. Yang perlu dijawab: wilayah mana paling aktif, seberapa besar gempa yang realistis terjadi, dan seberapa dangkal sumbernya.</a:t>
            </a:r>
          </a:p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33231C"/>
                </a:solidFill>
                <a:latin typeface="Noto Sans"/>
              </a:rPr>
              <a:t>Analisis ini menjawabnya dari katalog 12 tahun: frekuensi per tahun, kelas magnitudo, kelas kedalaman, peta sebaran, sampai gempa berflag tsunami, ditutup snapshot kejadian terbaru dari BMKG.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0" y="1463040"/>
            <a:ext cx="3657600" cy="2011680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1591056"/>
            <a:ext cx="320040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5400" b="1" i="0">
                <a:solidFill>
                  <a:srgbClr val="FFFFFF"/>
                </a:solidFill>
                <a:latin typeface="Noto Sans"/>
              </a:rPr>
              <a:t>4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"/>
              </a:rPr>
              <a:t>LEMPENG TEKTONIK BERTEMU DI INDONESIA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3657600"/>
            <a:ext cx="3657600" cy="2011680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3785615"/>
            <a:ext cx="320040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5400" b="1" i="0">
                <a:solidFill>
                  <a:srgbClr val="33231C"/>
                </a:solidFill>
                <a:latin typeface="Noto Sans"/>
              </a:rPr>
              <a:t>12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33231C"/>
                </a:solidFill>
                <a:latin typeface="Noto Sans"/>
              </a:rPr>
              <a:t>TAHUN KATALOG USGS: 2015-2026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91072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 i="1">
                <a:solidFill>
                  <a:srgbClr val="8A7A6C"/>
                </a:solidFill>
                <a:latin typeface="Noto Sans"/>
              </a:rPr>
              <a:t>Sumber data: USGS FDSN Event API (katalog historis) dan BMKG TEWS (snapshot real-time), diambil 20 Oktober 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100" b="1" i="0">
                <a:solidFill>
                  <a:srgbClr val="33231C"/>
                </a:solidFill>
                <a:latin typeface="Noto Sans"/>
              </a:rPr>
              <a:t>DATA DAN METODE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88720"/>
            <a:ext cx="1371600" cy="82296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0879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33231C"/>
                </a:solidFill>
                <a:latin typeface="Noto Sans"/>
              </a:rPr>
              <a:t>Katalog mentah USGS: 10.841 kejadian dalam kotak batas Indonesia (lintang -11 s.d. 6, bujur 95 s.d. 141), ambang M≥4,5. Setelah 1.246 kejadian berlabel negara lain (Filipina, Malaysia, Papua Nugini, Palau) dikeluarkan, katalog bersih berisi 9.595 kejadian.</a:t>
            </a:r>
          </a:p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33231C"/>
                </a:solidFill>
                <a:latin typeface="Noto Sans"/>
              </a:rPr>
              <a:t>670 kejadian berlabel 'Timor Leste' dipertahankan: episentrumnya di perairan Indonesia utara/timur Pulau Timor, hanya kota acuannya yang lintas negara.</a:t>
            </a:r>
          </a:p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33231C"/>
                </a:solidFill>
                <a:latin typeface="Noto Sans"/>
              </a:rPr>
              <a:t>Wilayah diturunkan dari nama laut pada label USGS, lalu kotak koordinat pulau terdekat. Kelas kedalaman: dangkal &lt;70 km, menengah 70-300 km, dalam &gt;300 km.</a:t>
            </a:r>
          </a:p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33231C"/>
                </a:solidFill>
                <a:latin typeface="Noto Sans"/>
              </a:rPr>
              <a:t>Snapshot BMKG (autogempa, gempaterkini, gempadirasakan) dipakai untuk bagian terkini: endpoint itu hanya menyimpan kejadian terbaru, bukan arsip.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074920"/>
            <a:ext cx="3575304" cy="1188720"/>
          </a:xfrm>
          <a:prstGeom prst="rect">
            <a:avLst/>
          </a:prstGeom>
          <a:solidFill>
            <a:srgbClr val="F8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202936"/>
            <a:ext cx="311810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 i="0">
                <a:solidFill>
                  <a:srgbClr val="33231C"/>
                </a:solidFill>
                <a:latin typeface="Noto Sans"/>
              </a:rPr>
              <a:t>10.841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33231C"/>
                </a:solidFill>
                <a:latin typeface="Noto Sans"/>
              </a:rPr>
              <a:t>KEJADIAN MENTAH DALAM KOTAK BATAS INDONESIA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6824" y="5074920"/>
            <a:ext cx="3575304" cy="1188720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35424" y="5202936"/>
            <a:ext cx="311810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 i="0">
                <a:solidFill>
                  <a:srgbClr val="33231C"/>
                </a:solidFill>
                <a:latin typeface="Noto Sans"/>
              </a:rPr>
              <a:t>1.246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33231C"/>
                </a:solidFill>
                <a:latin typeface="Noto Sans"/>
              </a:rPr>
              <a:t>DIKELUARKAN: BERLABEL NEGARA LAIN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973568" y="5074920"/>
            <a:ext cx="3575304" cy="1188720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2168" y="5202936"/>
            <a:ext cx="311810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Noto Sans"/>
              </a:rPr>
              <a:t>9.595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"/>
              </a:rPr>
              <a:t>KEJADIAN BERSIH DIANALISIS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100" b="1" i="0">
                <a:solidFill>
                  <a:srgbClr val="33231C"/>
                </a:solidFill>
                <a:latin typeface="Noto Sans"/>
              </a:rPr>
              <a:t>FREKUENSI: HAMPIR 800 GEMPA PER TAHUN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88720"/>
            <a:ext cx="1371600" cy="82296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33231C"/>
                </a:solidFill>
                <a:latin typeface="Noto Sans"/>
              </a:rPr>
              <a:t>Rata-rata tahun penuh 2015-2025: 783 gempa M≥4,5 per tahun. Tidak ada tren naik/turun yang jelas: aktivitas berfluktuasi mengikuti rangkaian gempa besar dan gempa susulannya.</a:t>
            </a:r>
          </a:p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33231C"/>
                </a:solidFill>
                <a:latin typeface="Noto Sans"/>
              </a:rPr>
              <a:t>Tahun tersibuk: 2019 dengan 1.040 kejadian; tersepi: 2016 (595).</a:t>
            </a:r>
          </a:p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33231C"/>
                </a:solidFill>
                <a:latin typeface="Noto Sans"/>
              </a:rPr>
              <a:t>2026 baru berjalan sampai 20 Oktober tetapi sudah mencatat 982 kejadian, setara tahun penuh yang sibuk, didorong rangkaian gempa besar tahun ini.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4000" b="1" i="0">
                <a:solidFill>
                  <a:srgbClr val="A34A38"/>
                </a:solidFill>
                <a:latin typeface="Noto Sans"/>
              </a:rPr>
              <a:t>783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33231C"/>
                </a:solidFill>
                <a:latin typeface="Noto Sans"/>
              </a:rPr>
              <a:t>RATA-RATA GEMPA M≥4,5 PER TAHUN (TAHUN PENUH 2015-2025)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463040"/>
            <a:ext cx="5559552" cy="4206240"/>
          </a:xfrm>
          <a:prstGeom prst="rect">
            <a:avLst/>
          </a:prstGeom>
          <a:solidFill>
            <a:srgbClr val="F8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per_tah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9" y="2484144"/>
            <a:ext cx="5285232" cy="2164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291072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 i="1">
                <a:solidFill>
                  <a:srgbClr val="8A7A6C"/>
                </a:solidFill>
                <a:latin typeface="Noto Sans"/>
              </a:rPr>
              <a:t>Chart: jumlah gempa per tahun. 2026 (oranye) bersifat parsial.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100" b="1" i="0">
                <a:solidFill>
                  <a:srgbClr val="33231C"/>
                </a:solidFill>
                <a:latin typeface="Noto Sans"/>
              </a:rPr>
              <a:t>MAGNITUDO: YANG BESAR ITU LANGKA, TAPI NYATA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88720"/>
            <a:ext cx="1371600" cy="82296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559552" cy="4206240"/>
          </a:xfrm>
          <a:prstGeom prst="rect">
            <a:avLst/>
          </a:prstGeom>
          <a:solidFill>
            <a:srgbClr val="F8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kelas_magnitu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39" y="2484144"/>
            <a:ext cx="5285232" cy="2164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463040"/>
            <a:ext cx="505663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33231C"/>
                </a:solidFill>
                <a:latin typeface="Noto Sans"/>
              </a:rPr>
              <a:t>Dari 9.595 gempa: 2.233 mencapai M≥5,0, 155 mencapai M≥6,0, dan hanya 16 yang mencapai M≥7,0.</a:t>
            </a:r>
          </a:p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33231C"/>
                </a:solidFill>
                <a:latin typeface="Noto Sans"/>
              </a:rPr>
              <a:t>Median magnitudo hanya 4,7: sebagian besar gempa Indonesia kecil. Risiko terkonsentrasi di ekor distribusi: belasan gempa M7+ per dekade.</a:t>
            </a:r>
          </a:p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33231C"/>
                </a:solidFill>
                <a:latin typeface="Noto Sans"/>
              </a:rPr>
              <a:t>Pola ini konsisten dengan hukum Gutenberg-Richter: setiap kenaikan 1 skala magnitudo, frekuensi turun kira-kira 10 kali lipat.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4572000"/>
            <a:ext cx="1627632" cy="1188720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4700016"/>
            <a:ext cx="117043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Noto Sans"/>
              </a:rPr>
              <a:t>2.233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"/>
              </a:rPr>
              <a:t>M≥5,0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4572000"/>
            <a:ext cx="1627632" cy="1188720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4700016"/>
            <a:ext cx="117043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 i="0">
                <a:solidFill>
                  <a:srgbClr val="33231C"/>
                </a:solidFill>
                <a:latin typeface="Noto Sans"/>
              </a:rPr>
              <a:t>155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33231C"/>
                </a:solidFill>
                <a:latin typeface="Noto Sans"/>
              </a:rPr>
              <a:t>M≥6,0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66960" y="4572000"/>
            <a:ext cx="1581912" cy="1188720"/>
          </a:xfrm>
          <a:prstGeom prst="rect">
            <a:avLst/>
          </a:prstGeom>
          <a:solidFill>
            <a:srgbClr val="C9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95560" y="4700016"/>
            <a:ext cx="112471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 b="1" i="0">
                <a:solidFill>
                  <a:srgbClr val="33231C"/>
                </a:solidFill>
                <a:latin typeface="Noto Sans"/>
              </a:rPr>
              <a:t>16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33231C"/>
                </a:solidFill>
                <a:latin typeface="Noto Sans"/>
              </a:rPr>
              <a:t>M≥7,0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91072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 i="1">
                <a:solidFill>
                  <a:srgbClr val="8A7A6C"/>
                </a:solidFill>
                <a:latin typeface="Noto Sans"/>
              </a:rPr>
              <a:t>Chart: kejadian per kelas magnitudo, 2015-2026.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100" b="1" i="0">
                <a:solidFill>
                  <a:srgbClr val="33231C"/>
                </a:solidFill>
                <a:latin typeface="Noto Sans"/>
              </a:rPr>
              <a:t>GEMPA TERBESAR DALAM 12 TAHUN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88720"/>
            <a:ext cx="1371600" cy="82296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029200" cy="1417320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91056"/>
            <a:ext cx="457200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4800" b="1" i="0">
                <a:solidFill>
                  <a:srgbClr val="FFFFFF"/>
                </a:solidFill>
                <a:latin typeface="Noto Sans"/>
              </a:rPr>
              <a:t>M7,8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"/>
              </a:rPr>
              <a:t>66 KM NNW OF ENDE, INDONESIA (2026-08-15), KEDALAMAN 10 KM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550" b="0" i="0">
                <a:solidFill>
                  <a:srgbClr val="33231C"/>
                </a:solidFill>
                <a:latin typeface="Noto Sans"/>
              </a:rPr>
              <a:t>Terbesar: M7,8, 66 km NNW of Ende, Indonesia (2026-08-15), kedalaman hanya 10 km. Besar dan dangkal: kombinasi paling berbahaya.</a:t>
            </a:r>
          </a:p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550" b="0" i="0">
                <a:solidFill>
                  <a:srgbClr val="33231C"/>
                </a:solidFill>
                <a:latin typeface="Noto Sans"/>
              </a:rPr>
              <a:t>Nama yang paling diingat publik: M7,5 Palu, Sulawesi (2018-09-28): gempa dangkal 20 km yang memicu tsunami dan likuefaksi.</a:t>
            </a:r>
          </a:p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550" b="0" i="0">
                <a:solidFill>
                  <a:srgbClr val="33231C"/>
                </a:solidFill>
                <a:latin typeface="Noto Sans"/>
              </a:rPr>
              <a:t>10 daftar teratas didominasi kawasan timur (NTT, Tanimbar, Halmahera, Laut Banda) dan Sulawesi, bukan Jawa yang penduduknya terpadat.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463040"/>
            <a:ext cx="5559552" cy="4206240"/>
          </a:xfrm>
          <a:prstGeom prst="rect">
            <a:avLst/>
          </a:prstGeom>
          <a:solidFill>
            <a:srgbClr val="F8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top10_terbes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9" y="2234448"/>
            <a:ext cx="5285232" cy="26634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91072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 i="1">
                <a:solidFill>
                  <a:srgbClr val="8A7A6C"/>
                </a:solidFill>
                <a:latin typeface="Noto Sans"/>
              </a:rPr>
              <a:t>Chart: 10 gempa terbesar 2015-2026 berdasarkan katalog USGS.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100" b="1" i="0">
                <a:solidFill>
                  <a:srgbClr val="33231C"/>
                </a:solidFill>
                <a:latin typeface="Noto Sans"/>
              </a:rPr>
              <a:t>KEDALAMAN: 7 DARI 10 GEMPA ITU DANGKAL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88720"/>
            <a:ext cx="1371600" cy="82296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33231C"/>
                </a:solidFill>
                <a:latin typeface="Noto Sans"/>
              </a:rPr>
              <a:t>Gempa dangkal (&lt;70 km): 6.841 kejadian (71,3%). Menengah: 2.439 (25,4%). Dalam (&gt;300 km): 315 (3,3%).</a:t>
            </a:r>
          </a:p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33231C"/>
                </a:solidFill>
                <a:latin typeface="Noto Sans"/>
              </a:rPr>
              <a:t>Gempa dangkal lebih berpotensi merusak: energi dilepas dekat permukaan dan permukiman. Kedalaman median katalog hanya 36,2 km.</a:t>
            </a:r>
          </a:p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33231C"/>
                </a:solidFill>
                <a:latin typeface="Noto Sans"/>
              </a:rPr>
              <a:t>Kombinasi paling waspada: dangkal sekaligus M≥6, terjadi 106 kali dalam 12 tahun, kira-kira 9 kali per tahun.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4000" b="1" i="0">
                <a:solidFill>
                  <a:srgbClr val="A34A38"/>
                </a:solidFill>
                <a:latin typeface="Noto Sans"/>
              </a:rPr>
              <a:t>71,3%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33231C"/>
                </a:solidFill>
                <a:latin typeface="Noto Sans"/>
              </a:rPr>
              <a:t>GEMPA DANGKAL (&lt;70 KM): 6.841 DARI 9.595 KEJADIAN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463040"/>
            <a:ext cx="5559552" cy="4206240"/>
          </a:xfrm>
          <a:prstGeom prst="rect">
            <a:avLst/>
          </a:prstGeom>
          <a:solidFill>
            <a:srgbClr val="F8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kelas_kedala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9" y="2484144"/>
            <a:ext cx="5285232" cy="2164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291072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 i="1">
                <a:solidFill>
                  <a:srgbClr val="8A7A6C"/>
                </a:solidFill>
                <a:latin typeface="Noto Sans"/>
              </a:rPr>
              <a:t>Chart: jumlah kejadian per kelas kedalaman.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100" b="1" i="0">
                <a:solidFill>
                  <a:srgbClr val="33231C"/>
                </a:solidFill>
                <a:latin typeface="Noto Sans"/>
              </a:rPr>
              <a:t>PETA SEBARAN DAN WILAYAH TERAKTIF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88720"/>
            <a:ext cx="1371600" cy="82296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526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500" b="0" i="0">
                <a:solidFill>
                  <a:srgbClr val="33231C"/>
                </a:solidFill>
                <a:latin typeface="Noto Sans"/>
              </a:rPr>
              <a:t>Wilayah teraktif: Halmahera &amp; Maluku Utara, 2.061 kejadian, magnitudo maks M7,4. Zona tumbukan Laut Maluku memang salah satu kawasan seismik paling aktif di dunia.</a:t>
            </a:r>
          </a:p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500" b="0" i="0">
                <a:solidFill>
                  <a:srgbClr val="33231C"/>
                </a:solidFill>
                <a:latin typeface="Noto Sans"/>
              </a:rPr>
              <a:t>Menyusul: Sumatera (1.514), Papua (1.108), Sulawesi (1.061). Kalimantan hanya 15 kejadian: jauh dari batas lempeng, nyaris bebas gempa.</a:t>
            </a:r>
          </a:p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500" b="0" i="0">
                <a:solidFill>
                  <a:srgbClr val="33231C"/>
                </a:solidFill>
                <a:latin typeface="Noto Sans"/>
              </a:rPr>
              <a:t>Pola peta memperlihatkan jalur busur kepulauan: gempa menumpuk mengikuti garis subduksi dari barat Sumatera, selatan Jawa, sampai Banda dan Maluku.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49240" y="1463040"/>
            <a:ext cx="6199632" cy="4206240"/>
          </a:xfrm>
          <a:prstGeom prst="rect">
            <a:avLst/>
          </a:prstGeom>
          <a:solidFill>
            <a:srgbClr val="F8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_peta_sebar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138117"/>
            <a:ext cx="5925312" cy="28560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91072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 i="1">
                <a:solidFill>
                  <a:srgbClr val="8A7A6C"/>
                </a:solidFill>
                <a:latin typeface="Noto Sans"/>
              </a:rPr>
              <a:t>Chart: peta sebaran, ukuran titik = magnitudo, warna = kelas kedalaman.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100" b="1" i="0">
                <a:solidFill>
                  <a:srgbClr val="33231C"/>
                </a:solidFill>
                <a:latin typeface="Noto Sans"/>
              </a:rPr>
              <a:t>SNAPSHOT BMKG: OKTOBER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88720"/>
            <a:ext cx="1371600" cy="82296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559552" cy="3017520"/>
          </a:xfrm>
          <a:prstGeom prst="rect">
            <a:avLst/>
          </a:prstGeom>
          <a:solidFill>
            <a:srgbClr val="F8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snapshot_bmk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39" y="1913213"/>
            <a:ext cx="5285232" cy="21171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4663440"/>
            <a:ext cx="5559552" cy="1188720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791455"/>
            <a:ext cx="5102352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Noto Sans"/>
              </a:rPr>
              <a:t>M6,1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"/>
              </a:rPr>
              <a:t>TERBESAR OKTOBER 2026: KODI, SUMBA BARAT DAYA (4 OKT)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505663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33231C"/>
                </a:solidFill>
                <a:latin typeface="Noto Sans"/>
              </a:rPr>
              <a:t>Dalam 18 hari pertama Oktober 2026 saja, BMKG mencatat 10 gempa M5+, termasuk M6,1 di Kodi, Sumba Barat Daya (4 Okt) dan M5,8 di Tahuna, Kep. Sangihe (8 Okt).</a:t>
            </a:r>
          </a:p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33231C"/>
                </a:solidFill>
                <a:latin typeface="Noto Sans"/>
              </a:rPr>
              <a:t>Dua gempa M5,7 berurutan: Sukabumi, Jawa Barat (11 Okt, dangkal 10 km) dan Pohuwato, Gorontalo (12 Okt). Terakhir di daftar: M5,3 Labuan Bajo, NTT (18 Okt).</a:t>
            </a:r>
          </a:p>
          <a:p>
            <a:pPr marL="171450" indent="-171450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 b="0" i="0">
                <a:solidFill>
                  <a:srgbClr val="33231C"/>
                </a:solidFill>
                <a:latin typeface="Noto Sans"/>
              </a:rPr>
              <a:t>Gempa terbaru saat data diambil: M3,7 di perairan Pulau Saringi (20 Okt, 18:28 WIB), dirasakan III di Kabupaten Sumbawa. Bukti bahwa katalog ini hidup: gempa terjadi bahkan saat analisis dikerjakan.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91072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 i="1">
                <a:solidFill>
                  <a:srgbClr val="8A7A6C"/>
                </a:solidFill>
                <a:latin typeface="Noto Sans"/>
              </a:rPr>
              <a:t>Chart: 15 gempa M5+ terbaru versi BMKG (snapshot 20 Oktober 2026).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08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100" b="1" i="0">
                <a:solidFill>
                  <a:srgbClr val="33231C"/>
                </a:solidFill>
                <a:latin typeface="Noto Sans"/>
              </a:rPr>
              <a:t>PENUTUP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88720"/>
            <a:ext cx="1371600" cy="82296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3575304" cy="1188720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91056"/>
            <a:ext cx="311810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Noto Sans"/>
              </a:rPr>
              <a:t>783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"/>
              </a:rPr>
              <a:t>GEMPA M≥4,5 PER TAHUN, 71,3% DI ANTARANYA DANGKAL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306824" y="1463040"/>
            <a:ext cx="3575304" cy="1188720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35424" y="1591056"/>
            <a:ext cx="311810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 i="0">
                <a:solidFill>
                  <a:srgbClr val="33231C"/>
                </a:solidFill>
                <a:latin typeface="Noto Sans"/>
              </a:rPr>
              <a:t>16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33231C"/>
                </a:solidFill>
                <a:latin typeface="Noto Sans"/>
              </a:rPr>
              <a:t>GEMPA M≥7,0 DALAM 12 TAHUN: LANGKA, TANPA JADWAL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1463040"/>
            <a:ext cx="3575304" cy="1188720"/>
          </a:xfrm>
          <a:prstGeom prst="rect">
            <a:avLst/>
          </a:prstGeom>
          <a:solidFill>
            <a:srgbClr val="C97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2168" y="1591056"/>
            <a:ext cx="3118104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 i="0">
                <a:solidFill>
                  <a:srgbClr val="33231C"/>
                </a:solidFill>
                <a:latin typeface="Noto Sans"/>
              </a:rPr>
              <a:t>2.061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33231C"/>
                </a:solidFill>
                <a:latin typeface="Noto Sans"/>
              </a:rPr>
              <a:t>KEJADIAN DI HALMAHERA DAN MALUKU UTARA, WILAYAH TERAKTIF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10908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4400" b="1" i="0">
                <a:solidFill>
                  <a:srgbClr val="33231C"/>
                </a:solidFill>
                <a:latin typeface="Noto Sans"/>
              </a:rPr>
              <a:t>TERIMA KASIH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10908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33231C"/>
                </a:solidFill>
                <a:latin typeface="Noto Sans"/>
              </a:rPr>
              <a:t>Risiko besar terkonsentrasi di timur: Halmahera-Maluku, Banda, NTT, Sulawesi. Paket dashboard Power BI tersedia di folder powerbi/ (star schema 3 tabel, measure DAX siap tempel dengan tabel verifikasi, layout 4 halaman termasuk halaman peta, dan panduan rakit langkah demi langkah). Semua angka dapat direproduksi: jalankan scripts/fetch_data.py lalu scripts/analyze.py, dan bisa dicek silang dengan sql/queries.sql.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257800"/>
            <a:ext cx="1463040" cy="64008"/>
          </a:xfrm>
          <a:prstGeom prst="rect">
            <a:avLst/>
          </a:prstGeom>
          <a:solidFill>
            <a:srgbClr val="DE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440680"/>
            <a:ext cx="109087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A34A38"/>
                </a:solidFill>
                <a:latin typeface="Noto Sans"/>
              </a:rPr>
              <a:t>BAGHIZ ASSHIDDIQIE ARASYA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33231C"/>
                </a:solidFill>
                <a:latin typeface="Noto Sans"/>
              </a:rPr>
              <a:t>github.com/baghizash/gempa-bumi-indonesia-2026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3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